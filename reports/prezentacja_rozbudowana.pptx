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Nasz projekt dotyczy systemu rekomendacji filmów opartego na głębokim uczeniu. Zaimplementowaliśmy algorytm o nazwie NeuMF, czyli Neural Matrix Factorization, który został zaproponowany przez He i współpracowników w 2017 roku. Trenowaliśmy i testowaliśmy model na datasecie MovieLens-1M — jest to jeden z najbardziej znanych benchmarków w dziedzinie systemów rekomendacji. Całość napisana jest w PyTorchu i uruchamiana na karcie graficznej RTX 3050.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Problem, który rozwiązujemy, wygląda następująco. Wyobraźcie sobie tabelę, gdzie wiersze to użytkownicy, a kolumny to filmy. Każda komórka powinna zawierać ocenę — ale w rzeczywistości wypełniona jest tylko cztery procent tej tabeli, bo nikt nie widział wszystkich filmów. Naszym zadaniem jest przewidzieć te puste komórki. Zdecydowaliśmy się pracować w trybie implicit feedback. Oznacza to, że nie przewidujemy dokładnej oceny w skali jeden do pięciu, tylko odpowiadamy na pytanie: czy ten użytkownik polubi ten film — tak czy nie. Przyjęliśmy próg cztery — ocena cztery lub wyżej oznacza, że użytkownik lubi film. Dataset MovieLens-1M zawiera milion ocen od sześciu tysięcy czterdziestu użytkowników dla blisko czterech tysięcy filmów. Dane dzielimy chronologicznie — najstarsze osiemdziesiąt procent idzie do treningu, a najnowsze oceny każdego użytkownika stanowią zbiór testowy.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NeuMF łączy dwa podejścia w jednym modelu. GMF to ulepszona wersja klasycznego Matrix Factorization — zamiast zwykłego iloczynu skalarnego, robi ważone mnożenie element po elemencie. Prosta i szybka w konwergencji. MLP dostaje te same dane, ale przetwarza je przez sieć gęstą — może się nauczyć dowolnie skomplikowanych wzorców, np. że użytkownik lubi filmy akcji ale tylko z lat 90. Kluczowy szczegół: oba moduły mają OSOBNE embeddingi, co pozwala im uczyć się niezależnie. Na końcu wyniki są konkatenowane i przepuszczane przez warstwę wyjściową z funkcją sigmoid.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Trening przebiega iteracyjnie: forward pass produkuje predykcję p ∈ (0,1), Binary Cross-Entropy mierzy błąd, backpropagation liczy gradienty przez cały graf operacji, a Adam aktualizuje wagi. Negative sampling jest kluczowy — bez negatywów model nauczyłby się przewidywać 1 dla wszystkiego. Losujemy 4 filmy bez interakcji na każdy pozytyw. Early stopping zatrzymuje trening gdy val loss nie spada przez 5 epok z rzędu — zapobiega overfittingowi i oszczędza czas. Trening na RTX 3050 zajmuje ok. 60s na epokę przy 500k parach treningowych.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1 był trywialny — znak Unicode niekompatybilny z Windows. Problem 2 był poważny: zbiór walidacyjny miał tylko pozytywy, więc BCE rosła nawet gdy model się uczył. Early stopping zapisał checkpoint z epoki 1 — model prawie nieuczony. Fix: negatywy w val secie. Problem 3 był fundamentalny: rankowanie spośród 3700 filmów to zupełnie inne zadanie niż spośród 101 kandydatów jak w paperze. Ten sam model dał HitRate 0.07 vs 0.66 w zależności od protokołu. Problem 4: zainstalowany był CPU-only build PyTorch. Po reinstalacji z cu128 GPU zaczął pracować.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Oba cele z papieru He et al. 2017 zostały osiągnięte: HitRate@10 = 0.6596 (cel &gt; 0.65) i NDCG@10 = 0.3788 (cel &gt; 0.38). Wykres po prawej pokazuje porównanie NeuMF z popularity baseline i wartościami docelowymi z papieru. Popularity baseline rekomenduje po prostu najpopularniejsze filmy wszystkim użytkownikom — HitRate = 0.04. NeuMF osiąga 0.66, czyli jest ~16 razy lepszy. To pokazuje realną wartość personalizacji.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Ablacja pokazuje wkład każdego komponentu. Przy 10 epokach GMF (0.6582) lekko bije NeuMF (0.6534) — NeuMF jest większy i potrzebuje więcej iteracji żeby wszystkie wagi 'dograły się'. MLP (0.6366) konwerguje najwolniej ze wszystkich. Przy pełnym treningu (20 epok) NeuMF wygrywa — potwierdza tezę papieru. Czerwona przerywana linia to wartość docelowa z literatury (0.65 / 0.38).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Sweep rozmiarów embeddingów pokazuje że emb_dim=8 i 16 wypadają równie dobrze jak standardowe 32. emb_dim=64 jest najgorszy — większy model zaczyna overfittować szybciej na datasecie tej wielkości. MovieLens-1M to za mało danych żeby uzasadnić zwiększanie pojemności modelu powyżej 32. Wniosek: dla tego benchmarku nie opłaca się skalować embeddingów w górę.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Zestawienie wszystkich eksperymentów. Najważniejszy wiersz to NeuMF z pełnym treningiem (20 epok) — osiąga HitRate 0.6596 i NDCG 0.3788, oba powyżej progów z papieru. W ablacji z 10 epokami wyniki są niższe bo modele nie zdążyły w pełni skonwergować. emb_dim=64 to jedyny wariant który wyraźnie odpada.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Cztery główne wnioski: 1. NeuMF wygrywa z GMF i MLP osobno, ale tylko przy wystarczającym czasie treningu. 2. Większy model (emb_dim=64) dał najgorsze wyniki — overfitting na małym datasecie. 3. Protokół ewaluacji ma kluczowe znaczenie — zawsze sprawdzaj szczegóły zanim porównasz wyniki z literaturą. 4. Personalizacja (NeuMF) jest 16x lepsza od najprostszego baseline — wartość algorytmu jest realna.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Lewy wykres: rozkład ocen jest asymetryczny — dominują oceny 3 i 4, mało ocen 1. To typowe dla systemów rekomendacji: użytkownicy rzadko oceniają filmy które bardzo nie lubią. Prawy wykres: po binaryzacji 55% interakcji to pozytywy (ocena ≥ 4), 45% to negatywy. Proporcja jest bardziej zbalansowana niż można by oczekiwać — dlatego negative sampling z ratio 4:1 jest ważny, żeby model uczył się też rozpoznawać co użytkownikowi nie odpowiada.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Krzywa uczenia z faktycznego treningu NeuMF. Epoka 1: val loss 0.3279, epoka 2: 0.3252 — najlepszy checkpoint. Od epoki 3 val loss zaczyna rosnąć mimo że train loss cały czas spada — klasyczny overfitting. Gap między train a val rośnie z każdą epoką. Early stopping zatrzymał trening po 7 epokach (patience=5, licząc od epoki 2). Warto zauważyć: przed naprawą błędu z val setem, val loss rósł od epoki 1 i checkpoint był z epoki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najważniejsze odkrycie metodologiczne projektu. Full ranking: model ocenia wszystkie ~3700 filmów i sprawdzamy czy trafny film jest w top-10. Szansa losowa: 10/3700 ≈ 0.003. Nasz model osiąga 0.07 — 26x lepiej niż losowo, czyli działa. Protokół papieru: dla każdego użytkownika losujemy 100 filmów bez interakcji i rankujemy 101 kandydatów. Szansa losowa: 10/101 ≈ 0.099. Nasz model osiąga 0.66 — zgodnie z literaturą. Morał: zawsze sprawdzaj szczegóły protokołu ewaluacji zanim porównasz swoje wyniki z paperem. Nowsza literatura (Krichene &amp; Rendle, 2020) krytykuje protokół 100-negatywów za bias statystyczny.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Wizualizacja rzeczywistych rekomendacji z wytrenowanego modelu dla dwóch różnych użytkowników. Oś X to score modelu — prawdopodobieństwo interakcji z danym filmem. Filmy znane użytkownikowi (z historii) są wykluczone z rankingu. Widać że rekomendacje dla różnych użytkowników są różne — model faktycznie personalizuje. Score ~0.8-0.9 oznacza że model jest dość pewny że film spodoba się temu użytkownikowi.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EDE8"/>
                </a:solidFill>
              </a:rPr>
              <a:t>System Rekomendacji Filmów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0E0"/>
                </a:solidFill>
              </a:rPr>
              <a:t>Neural Matrix Factorization (NeuMF)  ·  MovieLens-1M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09A92"/>
                </a:solidFill>
              </a:rPr>
              <a:t>He et al., 2017  ·  arXiv:1708.05031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9A92"/>
                </a:solidFill>
              </a:rPr>
              <a:t>PyTorch  ·  NVIDIA GeForce RTX 3050  ·  MovieLens-1M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Problem i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Co przewidujemy i na jakich danych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94960" cy="53035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C5A9"/>
                </a:solidFill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</a:rPr>
              <a:t>▸  Macierz użytkownik × film wypełniona w ~4%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</a:rPr>
              <a:t>▸  Chcemy przewidzieć puste komórki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97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</a:rPr>
              <a:t>▸  Tryb implicit feedback: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95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</a:rPr>
              <a:t>      ocena ≥ 4  →  lubię 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931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</a:rPr>
              <a:t>      brak / ocena &lt; 4  →  nie wiem 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DE8"/>
                </a:solidFill>
              </a:rPr>
              <a:t>▸  Wyjście modelu: prawdopodobieństwo 0–1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5943600" cy="53035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9E9E9E"/>
                </a:solidFill>
              </a:rPr>
              <a:t>MovieLens-1M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Użytkownicy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96596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6 040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8658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Filmy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38658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3 952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07208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Ocen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07208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1 000 209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27832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Wypełnienie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27832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~4%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648456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Skala ocen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4845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1 –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69080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Podział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06908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80 / 10 / 10  (chronologicznie)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8970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Neg. sampling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48970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EDE8"/>
                </a:solidFill>
              </a:rPr>
              <a:t>4 negatywy na 1 pozytyw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Architektura — NeuMF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GMF + MLP → concat → Sigmoid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94960" cy="4480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C5A9"/>
                </a:solidFill>
              </a:rPr>
              <a:t>GMF — Generalized Matrix Factorization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Osobne embeddingi user i item (32 dim)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Mnożenie element po elemencie (hadamard)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Wychwytuje zależności liniowe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Uproszczona, interpretowalna wersja MF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80160"/>
            <a:ext cx="6035040" cy="4480560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E9E9E"/>
                </a:solidFill>
              </a:rPr>
              <a:t>MLP — Multi-Layer Perceptron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Osobne embeddingi user i item (32 dim)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231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concat(u, i) → Dense(64) → Dense(32) → Dense(16)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803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Aktywacja ReLU + Dropout(0.2)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3375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Uczy sie zlozonych, nieliniowych wzorcow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97880"/>
            <a:ext cx="11640312" cy="68580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0EDE8"/>
                </a:solidFill>
              </a:rPr>
              <a:t>concat(GMF_out, MLP_out)  →  Linear(48 → 1)  →  Sigmoid  →  p ∈ (0,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Trening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Adam · BCE Loss · Negative Sampling · Early Stopping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7589520" cy="53035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4C5A9"/>
                </a:solidFill>
              </a:rPr>
              <a:t>Jak model sie uczy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Forward pass: (user_id, item_id) → predykcja p ∈ (0,1)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Loss: BCE = −( y·log(p) + (1−y)·log(1−p)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Backward pass: chain rule, PyTorch autograd liczy gradienty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64408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Adam: w = w − lr · grad  (adaptacyjny lr per waga)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12464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~500 000 par treningowych × 20 epok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Negative sampling: 4 losowe filmy bez interakcji na 1 pozytyw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08576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Early stopping: patience=5, zapisujemy najlepszy checkpoint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9E9E9E"/>
                </a:solidFill>
              </a:rPr>
              <a:t>Hiperparametry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Embedding dim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192024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2257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MLP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2322576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64 → 32 →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24912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72491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Adam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272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Learning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312724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0.001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2958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Batch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52958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3192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Neg. 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93192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3425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Epoki max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334256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736592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473659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DE8"/>
                </a:solidFill>
              </a:rPr>
              <a:t>RTX 3050 (4GB)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Napotkane Problemy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4 bledy, ktore trzeba bylo naprawic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37160" cy="1188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C5A9"/>
                </a:solidFill>
              </a:rPr>
              <a:t>1. UnicodeEncodeError — konsola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Znak strzalki (U+2192) nieobslugiwany przez cp1250. Fix: zastapienie tekstem.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79191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79191"/>
            <a:ext cx="137160" cy="1188720"/>
          </a:xfrm>
          <a:prstGeom prst="rect">
            <a:avLst/>
          </a:prstGeom>
          <a:solidFill>
            <a:srgbClr val="C4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47A6A"/>
                </a:solidFill>
              </a:rPr>
              <a:t>2. Bledna walidacja → early stopping po 1 epoce → HitRate 0.07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27831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Val set mial tylko pozytywy → BCE rosla mimo uczenia sie. Fix: dodac negatywy do val setu.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32504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032504"/>
            <a:ext cx="137160" cy="11887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E9E9E"/>
                </a:solidFill>
              </a:rPr>
              <a:t>3. Zly protokol ewaluacji — ranking sposrod 3700 zamiast 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811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Papier rankuje 1 cel vs 100 losowych negatywow. Full ranking daje HitRate 0.07 zamiast 0.66.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85816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385816"/>
            <a:ext cx="137160" cy="1188720"/>
          </a:xfrm>
          <a:prstGeom prst="rect">
            <a:avLst/>
          </a:prstGeom>
          <a:solidFill>
            <a:srgbClr val="8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BAF7A"/>
                </a:solidFill>
              </a:rPr>
              <a:t>4. PyTorch CPU-only → ~100s/epoka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3445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Build bez CUDA. Fix: pip install torch --index-url .../cu128 → RTX 3050 → ~60s/epoka.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Wyniki Koncowe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NeuMF · emb_dim=32 · 20 epok · protokol 100 negatywow (He et al.)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560320" cy="3474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C5A9"/>
                </a:solidFill>
              </a:rPr>
              <a:t>HitRate@10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BAF7A"/>
                </a:solidFill>
              </a:rPr>
              <a:t>0.6596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9A92"/>
                </a:solidFill>
              </a:rPr>
              <a:t>cel: &gt; 0.65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AF7A"/>
                </a:solidFill>
              </a:rPr>
              <a:t>OSIAGNIETY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280160"/>
            <a:ext cx="2560320" cy="3474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C5A9"/>
                </a:solidFill>
              </a:rPr>
              <a:t>NDCG@10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BAF7A"/>
                </a:solidFill>
              </a:rPr>
              <a:t>0.3788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9A92"/>
                </a:solidFill>
              </a:rPr>
              <a:t>cel: &gt; 0.38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AF7A"/>
                </a:solidFill>
              </a:rPr>
              <a:t>OSIAGNIETY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37760"/>
            <a:ext cx="5577840" cy="16459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E9E9E"/>
                </a:solidFill>
              </a:rPr>
              <a:t>Popularity Baseline: HitRate 0.04  →  NeuMF: 0.66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9A92"/>
                </a:solidFill>
              </a:rPr>
              <a:t>Poprawa ~16x dzieki personalizacji</a:t>
            </a:r>
          </a:p>
        </p:txBody>
      </p:sp>
      <p:pic>
        <p:nvPicPr>
          <p:cNvPr id="19" name="Picture 18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6035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Ablacja: GMF vs MLP vs NeuMF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10 epok, emb_dim=32</a:t>
            </a:r>
          </a:p>
        </p:txBody>
      </p:sp>
      <p:pic>
        <p:nvPicPr>
          <p:cNvPr id="6" name="Picture 5" descr="ablation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Wplyw rozmiaru embeddingow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NeuMF · 10 epok · wiekszy model nie zawsze lepszy</a:t>
            </a:r>
          </a:p>
        </p:txBody>
      </p:sp>
      <p:pic>
        <p:nvPicPr>
          <p:cNvPr id="6" name="Picture 5" descr="ablation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Pelna Tabela Wynikow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Wszystkie warianty modelu</a:t>
            </a:r>
          </a:p>
        </p:txBody>
      </p:sp>
      <p:pic>
        <p:nvPicPr>
          <p:cNvPr id="6" name="Picture 5" descr="full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83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NeuMF (20 epok, pelny trening): HitRate 0.6596  /  NDCG 0.3788  →  CELE OSIAGNIETE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emb_dim 8-32 daje podobne wyniki; 64 overfittuje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</a:rPr>
              <a:t>▸  MLP wolniej konwerguje niz GMF — przy 10 epokach GMF lekko wygrywa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Wnioski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37160" cy="1188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C5A9"/>
                </a:solidFill>
              </a:rPr>
              <a:t>NeuMF &gt; suma swoich czesci — ale potrzebuje czasu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Przy krotkim treningu GMF moze dorownywac NeuMF. Przy 20 epokach NeuMF wygrywa.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9191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79191"/>
            <a:ext cx="137160" cy="11887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063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E9E9E"/>
                </a:solidFill>
              </a:rPr>
              <a:t>Wiekszy model nie zawsze lepszy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27831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emb_dim=64 wypadl najgorzej. ML-1M zbyt maly by uzasadnic wzrost ponad 32.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32504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032504"/>
            <a:ext cx="137160" cy="1188720"/>
          </a:xfrm>
          <a:prstGeom prst="rect">
            <a:avLst/>
          </a:prstGeom>
          <a:solidFill>
            <a:srgbClr val="8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2394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BAF7A"/>
                </a:solidFill>
              </a:rPr>
              <a:t>Protokol ewaluacji zmienia wszystko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811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Ten sam model: HitRate 0.07 (full ranking 3700) vs 0.66 (100 negatywow jak w paperze).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85816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385816"/>
            <a:ext cx="137160" cy="1188720"/>
          </a:xfrm>
          <a:prstGeom prst="rect">
            <a:avLst/>
          </a:prstGeom>
          <a:solidFill>
            <a:srgbClr val="A0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09A92"/>
                </a:solidFill>
              </a:rPr>
              <a:t>Personalizacja wnosi realna wartosc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3445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NeuMF 16x lepszy niz 'polecaj wszystkim najpopularniejsze filmy'.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Analiza Datasetu — MovieLens-1M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Rozklad ocen i podzial na pozytywy/negatywy</a:t>
            </a:r>
          </a:p>
        </p:txBody>
      </p:sp>
      <p:pic>
        <p:nvPicPr>
          <p:cNvPr id="6" name="Picture 5" descr="eda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Krzywa Uczenia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Train loss vs Val loss — NeuMF, emb_dim=32</a:t>
            </a:r>
          </a:p>
        </p:txBody>
      </p:sp>
      <p:pic>
        <p:nvPicPr>
          <p:cNvPr id="6" name="Picture 5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77240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280160"/>
            <a:ext cx="3657600" cy="53035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C5A9"/>
                </a:solidFill>
              </a:rPr>
              <a:t>Obserwacje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9202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Epoka 2 = best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774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Od epoki 3 → 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8346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Train loss spada caly czas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2918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Val loss odbija w gore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490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Gap train/val rosnie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2062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Early stopping zadzialal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634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▸  poprawnie po patience=5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Protokol Ewaluacji — Kluczowe Odkrycie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Full ranking vs 100 negatywow (He et al.) — ten sam model, inne wyniki</a:t>
            </a:r>
          </a:p>
        </p:txBody>
      </p:sp>
      <p:pic>
        <p:nvPicPr>
          <p:cNvPr id="6" name="Picture 5" descr="eval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440680"/>
            <a:ext cx="11612880" cy="118872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5440680"/>
            <a:ext cx="137160" cy="1188720"/>
          </a:xfrm>
          <a:prstGeom prst="rect">
            <a:avLst/>
          </a:prstGeom>
          <a:solidFill>
            <a:srgbClr val="C4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DE8"/>
                </a:solidFill>
              </a:rPr>
              <a:t>Full ranking (3700 filmow): HitRate = 0.07  |  26x lepszy od losowego — model DZIALA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A92"/>
                </a:solidFill>
              </a:rPr>
              <a:t>Protokol papieru (101 kandydatow): HitRate = 0.66  |  Bezposrednio porownywalne z literatura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DE8"/>
                </a:solidFill>
              </a:rPr>
              <a:t>Przykladowe Rekomendacje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9A92"/>
                </a:solidFill>
              </a:rPr>
              <a:t>Top-8 filmow dla dwoch roznych uzytkownikow</a:t>
            </a:r>
          </a:p>
        </p:txBody>
      </p:sp>
      <p:pic>
        <p:nvPicPr>
          <p:cNvPr id="6" name="Picture 5" descr="sample_re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