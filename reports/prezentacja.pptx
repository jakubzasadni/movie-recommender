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88952" cy="26517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System Rekomendacji Filmów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37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0E0E0"/>
                </a:solidFill>
              </a:rPr>
              <a:t>Neural Matrix Factorization (NeuMF)  ·  MovieLens-1M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CCCC"/>
                </a:solidFill>
              </a:rPr>
              <a:t>He et al., 2017  ·  arXiv:1708.05031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PyTorch  ·  NVIDIA GeForce RTX 3050  ·  MovieLens-1M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Problem i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0E0"/>
                </a:solidFill>
              </a:rPr>
              <a:t>Co przewidujemy i na jakich danych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394960" cy="53035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196F3"/>
                </a:solidFill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Macierz użytkownik × film wypełniona w ~4%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50008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Chcemy przewidzieć puste komórki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79776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Tryb implicit feedback: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9544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    ocena ≥ 4  →  lubię (1)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3931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    brak / ocena &lt; 4  →  nie wiem (0)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69079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Wyjście modelu: prawdopodobieństwo 0–1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5943600" cy="53035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37160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9800"/>
                </a:solidFill>
              </a:rPr>
              <a:t>MovieLens-1M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965960"/>
            <a:ext cx="2560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Użytkownicy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965960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6 040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386584"/>
            <a:ext cx="2560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Filmy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386584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3 952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807208"/>
            <a:ext cx="2560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Ocen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807208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1 000 209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227832"/>
            <a:ext cx="2560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Wypełnienie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227832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~4%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648456"/>
            <a:ext cx="2560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Skala ocen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648456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1 –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069080"/>
            <a:ext cx="2560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Podział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069080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80 / 10 / 10  (chronologicznie)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489704"/>
            <a:ext cx="2560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Neg. sampling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489704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4 negatywy na 1 pozytyw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Architektura — NeuMF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0E0"/>
                </a:solidFill>
              </a:rPr>
              <a:t>GMF + MLP → concat → Sigmoid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394960" cy="4480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196F3"/>
                </a:solidFill>
              </a:rPr>
              <a:t>GMF — Generalized Matrix Factorization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Osobne embeddingi user i item (32 dim)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Mnożenie element po elemencie (hadamard)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Wychwytuje zależności liniowe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Uproszczona, interpretowalna wersja MF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280160"/>
            <a:ext cx="6035040" cy="4480560"/>
          </a:xfrm>
          <a:prstGeom prst="rect">
            <a:avLst/>
          </a:prstGeom>
          <a:solidFill>
            <a:srgbClr val="3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3716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9800"/>
                </a:solidFill>
              </a:rPr>
              <a:t>MLP — Multi-Layer Perceptron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965960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Osobne embeddingi user i item (32 dim)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423160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concat(u, i) → Dense(64) → Dense(32) → Dense(16)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880360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Aktywacja ReLU + Dropout(0.2)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337560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Uczy sie zlozonych, nieliniowych wzorcow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897880"/>
            <a:ext cx="11640312" cy="6858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concat(GMF_out, MLP_out)  →  Linear(48 → 1)  →  Sigmoid  →  p ∈ (0, 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Trening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0E0"/>
                </a:solidFill>
              </a:rPr>
              <a:t>Adam · BCE Loss · Negative Sampling · Early Stopping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7589520" cy="53035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196F3"/>
                </a:solidFill>
              </a:rPr>
              <a:t>Jak model sie uczy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7223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Forward pass: (user_id, item_id) → predykcja p ∈ (0,1)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68296"/>
            <a:ext cx="7223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Loss: BCE = −( y·log(p) + (1−y)·log(1−p)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16352"/>
            <a:ext cx="7223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Backward pass: chain rule, PyTorch autograd liczy gradienty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64408"/>
            <a:ext cx="7223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Adam: w = w − lr · grad  (adaptacyjny lr per waga)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12464"/>
            <a:ext cx="7223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~500 000 par treningowych × 20 epok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7223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Negative sampling: 4 losowe filmy bez interakcji na 1 pozytyw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08576"/>
            <a:ext cx="7223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Early stopping: patience=5, zapisujemy najlepszy checkpoint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749039" cy="53035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9800"/>
                </a:solidFill>
              </a:rPr>
              <a:t>Hiperparametry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Embedding dim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1920240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22576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MLP layers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2322576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64 → 32 →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724912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Optimizer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2724912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Adam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127248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Learning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312724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0.001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529584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Batch size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3529584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931920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Neg. samples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3931920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34256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Epoki max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4334256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736592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GPU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4736592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RTX 3050 (4GB)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Napotkane Problemy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0E0"/>
                </a:solidFill>
              </a:rPr>
              <a:t>4 bledy, ktore trzeba bylo naprawic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11612880" cy="11887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37160" cy="1188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196F3"/>
                </a:solidFill>
              </a:rPr>
              <a:t>1. UnicodeEncodeError — konsola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Znak strzalki (U+2192) nieobslugiwany przez cp1250. Fix: zastapienie tekstem.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79191"/>
            <a:ext cx="11612880" cy="11887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679191"/>
            <a:ext cx="137160" cy="118872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70631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44336"/>
                </a:solidFill>
              </a:rPr>
              <a:t>2. Bledna walidacja → early stopping po 1 epoce → HitRate 0.07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27831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Val set mial tylko pozytywy → BCE rosla mimo uczenia sie. Fix: dodac negatywy do val setu.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032504"/>
            <a:ext cx="11612880" cy="11887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4032504"/>
            <a:ext cx="137160" cy="1188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123944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9800"/>
                </a:solidFill>
              </a:rPr>
              <a:t>3. Zly protokol ewaluacji — ranking sposrod 3700 zamiast 101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81144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Papier rankuje 1 cel vs 100 losowych negatywow. Full ranking daje HitRate 0.07 zamiast 0.66.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385816"/>
            <a:ext cx="11612880" cy="11887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5385816"/>
            <a:ext cx="137160" cy="1188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47725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CAF50"/>
                </a:solidFill>
              </a:rPr>
              <a:t>4. PyTorch CPU-only → ~100s/epoka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34456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Build bez CUDA. Fix: pip install torch --index-url .../cu128 → RTX 3050 → ~60s/epoka.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Wyniki Koncowe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0E0"/>
                </a:solidFill>
              </a:rPr>
              <a:t>NeuMF · emb_dim=32 · 20 epok · protokol 100 negatywow (He et al.)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560320" cy="34747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196F3"/>
                </a:solidFill>
              </a:rPr>
              <a:t>HitRate@10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4CAF50"/>
                </a:solidFill>
              </a:rPr>
              <a:t>0.6596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cel: &gt; 0.65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37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50"/>
                </a:solidFill>
              </a:rPr>
              <a:t>OSIAGNIETY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280160"/>
            <a:ext cx="2560320" cy="34747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196F3"/>
                </a:solidFill>
              </a:rPr>
              <a:t>NDCG@10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920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4CAF50"/>
                </a:solidFill>
              </a:rPr>
              <a:t>0.3788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cel: &gt; 0.38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337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50"/>
                </a:solidFill>
              </a:rPr>
              <a:t>OSIAGNIETY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937760"/>
            <a:ext cx="5577840" cy="16459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074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9800"/>
                </a:solidFill>
              </a:rPr>
              <a:t>Popularity Baseline: HitRate 0.04  →  NeuMF: 0.66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32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Poprawa ~16x dzieki personalizacji</a:t>
            </a:r>
          </a:p>
        </p:txBody>
      </p:sp>
      <p:pic>
        <p:nvPicPr>
          <p:cNvPr id="18" name="Picture 17" descr="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60350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Ablacja: GMF vs MLP vs NeuMF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0E0"/>
                </a:solidFill>
              </a:rPr>
              <a:t>10 epok, emb_dim=32</a:t>
            </a:r>
          </a:p>
        </p:txBody>
      </p:sp>
      <p:pic>
        <p:nvPicPr>
          <p:cNvPr id="5" name="Picture 4" descr="ablation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Wplyw rozmiaru embeddingow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0E0"/>
                </a:solidFill>
              </a:rPr>
              <a:t>NeuMF · 10 epok · wiekszy model nie zawsze lepszy</a:t>
            </a:r>
          </a:p>
        </p:txBody>
      </p:sp>
      <p:pic>
        <p:nvPicPr>
          <p:cNvPr id="5" name="Picture 4" descr="ablation_embed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Pelna Tabela Wynikow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0E0"/>
                </a:solidFill>
              </a:rPr>
              <a:t>Wszystkie warianty modelu</a:t>
            </a:r>
          </a:p>
        </p:txBody>
      </p:sp>
      <p:pic>
        <p:nvPicPr>
          <p:cNvPr id="5" name="Picture 4" descr="full_result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41832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98348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NeuMF (20 epok, pelny trening): HitRate 0.6596  /  NDCG 0.3788  →  CELE OSIAGNIETE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emb_dim 8-32 daje podobne wyniki; 64 overfittuje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8932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MLP wolniej konwerguje niz GMF — przy 10 epokach GMF lekko wygrywa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Wnioski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11612880" cy="11887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137160" cy="1188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196F3"/>
                </a:solidFill>
              </a:rPr>
              <a:t>NeuMF &gt; suma swoich czesci — ale potrzebuje czasu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Przy krotkim treningu GMF moze dorownywac NeuMF. Przy 20 epokach NeuMF wygrywa.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679191"/>
            <a:ext cx="11612880" cy="11887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679191"/>
            <a:ext cx="137160" cy="1188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70631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9800"/>
                </a:solidFill>
              </a:rPr>
              <a:t>Wiekszy model nie zawsze lepszy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27831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emb_dim=64 wypadl najgorzej. ML-1M zbyt maly by uzasadnic wzrost ponad 32.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32504"/>
            <a:ext cx="11612880" cy="11887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032504"/>
            <a:ext cx="137160" cy="1188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23944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CAF50"/>
                </a:solidFill>
              </a:rPr>
              <a:t>Protokol ewaluacji zmienia wszystko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81144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Ten sam model: HitRate 0.07 (full ranking 3700) vs 0.66 (100 negatywow jak w paperze).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385816"/>
            <a:ext cx="11612880" cy="11887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5385816"/>
            <a:ext cx="137160" cy="1188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47725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CCCCC"/>
                </a:solidFill>
              </a:rPr>
              <a:t>Personalizacja wnosi realna wartosc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34456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NeuMF 16x lepszy niz 'polecaj wszystkim najpopularniejsze filmy'.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